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BLUEPROOF</a:t>
            </a:r>
          </a:p>
          <a:p>
            <a:pPr>
              <a:spcBef>
                <a:spcPts val="800"/>
              </a:spcBef>
              <a:defRPr sz="2600">
                <a:solidFill>
                  <a:srgbClr val="4DB6AC"/>
                </a:solidFill>
              </a:defRPr>
            </a:pPr>
            <a:r>
              <a:t>Decentralized, Offline-First BLE Attendance System</a:t>
            </a:r>
          </a:p>
          <a:p>
            <a:pPr>
              <a:spcBef>
                <a:spcPts val="1600"/>
              </a:spcBef>
              <a:defRPr sz="1600">
                <a:solidFill>
                  <a:srgbClr val="BECDE6"/>
                </a:solidFill>
              </a:defRPr>
            </a:pPr>
            <a:r>
              <a:t>Military-Grade Anti-Proxy Safeguards • Hardware Device Exclusivity • Zero Pairing Required</a:t>
            </a:r>
          </a:p>
          <a:p>
            <a:pPr>
              <a:spcBef>
                <a:spcPts val="3600"/>
              </a:spcBef>
              <a:defRPr sz="1300">
                <a:solidFill>
                  <a:srgbClr val="A0B4D2"/>
                </a:solidFill>
              </a:defRPr>
            </a:pPr>
            <a:r>
              <a:t>Platform: Native Android (Kotlin + Jetpack Compose) | Architecture: Room SQLite + BLE GATT</a:t>
            </a:r>
            <a:br/>
            <a:r>
              <a:t>GitHub: https://github.com/keshav2608kumar/BlueProof</a:t>
            </a:r>
            <a:br/>
            <a:r>
              <a:t>Status: 55/55 Automated Tests Passing | Direct APK Compiled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THE PROBLEM</a:t>
            </a:r>
          </a:p>
          <a:p>
            <a:pPr>
              <a:defRPr sz="2400" b="1">
                <a:solidFill>
                  <a:srgbClr val="1B2A4A"/>
                </a:solidFill>
              </a:defRPr>
            </a:pPr>
            <a:r>
              <a:t>The Critical Flaws in Existing Attendance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800" b="1">
                <a:solidFill>
                  <a:srgbClr val="1B2A4A"/>
                </a:solidFill>
              </a:defRPr>
            </a:pPr>
            <a:r>
              <a:t>Paper Roster</a:t>
            </a:r>
          </a:p>
          <a:p>
            <a:pPr>
              <a:spcBef>
                <a:spcPts val="600"/>
              </a:spcBef>
              <a:defRPr sz="1200" b="1">
                <a:solidFill>
                  <a:srgbClr val="C62828"/>
                </a:solidFill>
              </a:defRPr>
            </a:pPr>
            <a:r>
              <a:t>FAIL: Proxy Signatures</a:t>
            </a:r>
          </a:p>
          <a:p>
            <a:pPr>
              <a:spcBef>
                <a:spcPts val="1400"/>
              </a:spcBef>
              <a:defRPr sz="1300">
                <a:solidFill>
                  <a:srgbClr val="646E7D"/>
                </a:solidFill>
              </a:defRPr>
            </a:pPr>
            <a:r>
              <a:t>Students sign for absent peers. Sheets are easily lost, damaged, or manipulated. Manual tallying wastes 10-15 minutes of every single lecture.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800" b="1">
                <a:solidFill>
                  <a:srgbClr val="1B2A4A"/>
                </a:solidFill>
              </a:defRPr>
            </a:pPr>
            <a:r>
              <a:t>QR Code Scanners</a:t>
            </a:r>
          </a:p>
          <a:p>
            <a:pPr>
              <a:spcBef>
                <a:spcPts val="600"/>
              </a:spcBef>
              <a:defRPr sz="1200" b="1">
                <a:solidFill>
                  <a:srgbClr val="C62828"/>
                </a:solidFill>
              </a:defRPr>
            </a:pPr>
            <a:r>
              <a:t>FAIL: Instant WhatsApp Proxy</a:t>
            </a:r>
          </a:p>
          <a:p>
            <a:pPr>
              <a:spcBef>
                <a:spcPts val="1400"/>
              </a:spcBef>
              <a:defRPr sz="1300">
                <a:solidFill>
                  <a:srgbClr val="646E7D"/>
                </a:solidFill>
              </a:defRPr>
            </a:pPr>
            <a:r>
              <a:t>A single student takes a photo of the QR code and texts it into a group chat. Absent students scan it from their dorm beds across campus.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800" b="1">
                <a:solidFill>
                  <a:srgbClr val="1B2A4A"/>
                </a:solidFill>
              </a:defRPr>
            </a:pPr>
            <a:r>
              <a:t>Biometric Terminals</a:t>
            </a:r>
          </a:p>
          <a:p>
            <a:pPr>
              <a:spcBef>
                <a:spcPts val="600"/>
              </a:spcBef>
              <a:defRPr sz="1200" b="1">
                <a:solidFill>
                  <a:srgbClr val="C62828"/>
                </a:solidFill>
              </a:defRPr>
            </a:pPr>
            <a:r>
              <a:t>FAIL: Expensive &amp; Slow</a:t>
            </a:r>
          </a:p>
          <a:p>
            <a:pPr>
              <a:spcBef>
                <a:spcPts val="1400"/>
              </a:spcBef>
              <a:defRPr sz="1300">
                <a:solidFill>
                  <a:srgbClr val="646E7D"/>
                </a:solidFill>
              </a:defRPr>
            </a:pPr>
            <a:r>
              <a:t>Causes 15-minute queues at classroom doors. Fingerprint sensors suffer hygiene issues and hardware breakdowns. Costs $500–$2,000 per room.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800" b="1">
                <a:solidFill>
                  <a:srgbClr val="1B2A4A"/>
                </a:solidFill>
              </a:defRPr>
            </a:pPr>
            <a:r>
              <a:t>GPS Geofencing</a:t>
            </a:r>
          </a:p>
          <a:p>
            <a:pPr>
              <a:spcBef>
                <a:spcPts val="600"/>
              </a:spcBef>
              <a:defRPr sz="1200" b="1">
                <a:solidFill>
                  <a:srgbClr val="C62828"/>
                </a:solidFill>
              </a:defRPr>
            </a:pPr>
            <a:r>
              <a:t>FAIL: Spoofed by Apps</a:t>
            </a:r>
          </a:p>
          <a:p>
            <a:pPr>
              <a:spcBef>
                <a:spcPts val="1400"/>
              </a:spcBef>
              <a:defRPr sz="1300">
                <a:solidFill>
                  <a:srgbClr val="646E7D"/>
                </a:solidFill>
              </a:defRPr>
            </a:pPr>
            <a:r>
              <a:t>GPS spoofing apps easily mock coordinates. Furthermore, GPS cannot determine altitude or vertical indoor floors in multi-story academic buildings.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THE SOLUTION</a:t>
            </a:r>
          </a:p>
          <a:p>
            <a:pPr>
              <a:defRPr sz="2400" b="1">
                <a:solidFill>
                  <a:srgbClr val="1B2A4A"/>
                </a:solidFill>
              </a:defRPr>
            </a:pPr>
            <a:r>
              <a:t>The BlueProof Breakthrough: Offline-First BLE Direct Radio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900" b="1">
                <a:solidFill>
                  <a:srgbClr val="1B2A4A"/>
                </a:solidFill>
              </a:defRPr>
            </a:pPr>
            <a:r>
              <a:t>100% Offline-First</a:t>
            </a:r>
          </a:p>
          <a:p>
            <a:pPr>
              <a:spcBef>
                <a:spcPts val="400"/>
              </a:spcBef>
              <a:defRPr sz="1200" b="1">
                <a:solidFill>
                  <a:srgbClr val="00897B"/>
                </a:solidFill>
              </a:defRPr>
            </a:pPr>
            <a:r>
              <a:t>Direct Phone-to-Phone</a:t>
            </a:r>
          </a:p>
          <a:p>
            <a:pPr>
              <a:spcBef>
                <a:spcPts val="800"/>
              </a:spcBef>
              <a:defRPr sz="1300">
                <a:solidFill>
                  <a:srgbClr val="646E7D"/>
                </a:solidFill>
              </a:defRPr>
            </a:pPr>
            <a:r>
              <a:t>No Wi-Fi, no mobile data, and no cloud dependency required. Attendance operates over direct 2.4 GHz Bluetooth radio frequencies between teacher and student phones.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900" b="1">
                <a:solidFill>
                  <a:srgbClr val="1B2A4A"/>
                </a:solidFill>
              </a:defRPr>
            </a:pPr>
            <a:r>
              <a:t>Sub-2-Second Verification</a:t>
            </a:r>
          </a:p>
          <a:p>
            <a:pPr>
              <a:spcBef>
                <a:spcPts val="400"/>
              </a:spcBef>
              <a:defRPr sz="1200" b="1">
                <a:solidFill>
                  <a:srgbClr val="00897B"/>
                </a:solidFill>
              </a:defRPr>
            </a:pPr>
            <a:r>
              <a:t>Zero Bluetooth Pairing</a:t>
            </a:r>
          </a:p>
          <a:p>
            <a:pPr>
              <a:spcBef>
                <a:spcPts val="800"/>
              </a:spcBef>
              <a:defRPr sz="1300">
                <a:solidFill>
                  <a:srgbClr val="646E7D"/>
                </a:solidFill>
              </a:defRPr>
            </a:pPr>
            <a:r>
              <a:t>Students do not need to manually pair via Bluetooth settings. BlueProof utilizes transient BLE GATT read/write operations to log check-ins in under two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900" b="1">
                <a:solidFill>
                  <a:srgbClr val="1B2A4A"/>
                </a:solidFill>
              </a:defRPr>
            </a:pPr>
            <a:r>
              <a:t>Hardened Anti-Proxy</a:t>
            </a:r>
          </a:p>
          <a:p>
            <a:pPr>
              <a:spcBef>
                <a:spcPts val="400"/>
              </a:spcBef>
              <a:defRPr sz="1200" b="1">
                <a:solidFill>
                  <a:srgbClr val="00897B"/>
                </a:solidFill>
              </a:defRPr>
            </a:pPr>
            <a:r>
              <a:t>Physical Hardware Binding</a:t>
            </a:r>
          </a:p>
          <a:p>
            <a:pPr>
              <a:spcBef>
                <a:spcPts val="800"/>
              </a:spcBef>
              <a:defRPr sz="1300">
                <a:solidFill>
                  <a:srgbClr val="646E7D"/>
                </a:solidFill>
              </a:defRPr>
            </a:pPr>
            <a:r>
              <a:t>Enforces Hardware Device Exclusivity. One physical device can only punch attendance for one student per session, completely eliminating buddy punching.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977639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900" b="1">
                <a:solidFill>
                  <a:srgbClr val="1B2A4A"/>
                </a:solidFill>
              </a:defRPr>
            </a:pPr>
            <a:r>
              <a:t>Zero Extra Cost</a:t>
            </a:r>
          </a:p>
          <a:p>
            <a:pPr>
              <a:spcBef>
                <a:spcPts val="400"/>
              </a:spcBef>
              <a:defRPr sz="1200" b="1">
                <a:solidFill>
                  <a:srgbClr val="00897B"/>
                </a:solidFill>
              </a:defRPr>
            </a:pPr>
            <a:r>
              <a:t>Runs on Existing Phones</a:t>
            </a:r>
          </a:p>
          <a:p>
            <a:pPr>
              <a:spcBef>
                <a:spcPts val="800"/>
              </a:spcBef>
              <a:defRPr sz="1300">
                <a:solidFill>
                  <a:srgbClr val="646E7D"/>
                </a:solidFill>
              </a:defRPr>
            </a:pPr>
            <a:r>
              <a:t>Requires zero expensive biometric terminals or RFID scanners. Works natively on standard Android smartphones using their onboard BLE antennas.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SYSTEM DESIGN</a:t>
            </a:r>
          </a:p>
          <a:p>
            <a:pPr>
              <a:defRPr sz="2400" b="1">
                <a:solidFill>
                  <a:srgbClr val="1B2A4A"/>
                </a:solidFill>
              </a:defRPr>
            </a:pPr>
            <a:r>
              <a:t>System Architecture: Direct Radio Mesh Without Cloud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1B2A4A"/>
                </a:solidFill>
              </a:defRPr>
            </a:pPr>
            <a:r>
              <a:t>TEACHER PHONE (Host &amp; Verifier)</a:t>
            </a:r>
          </a:p>
          <a:p>
            <a:pPr>
              <a:spcBef>
                <a:spcPts val="1200"/>
              </a:spcBef>
              <a:defRPr sz="1300">
                <a:solidFill>
                  <a:srgbClr val="192337"/>
                </a:solidFill>
              </a:defRPr>
            </a:pPr>
            <a:r>
              <a:t>• BleAdvertiser: Broadcasts BLE Service UUID (0000b100-...)</a:t>
            </a:r>
            <a:br/>
            <a:r>
              <a:t>• GattServer: Hosts 3 Characteristics:</a:t>
            </a:r>
            <a:br/>
            <a:r>
              <a:t>   1. SESSION_INFO (Read session ID, teacher profile, challenge)</a:t>
            </a:r>
            <a:br/>
            <a:r>
              <a:t>   2. CHECKIN (Write student verification payload)</a:t>
            </a:r>
            <a:br/>
            <a:r>
              <a:t>   3. RESPONSE (Notify immediate ACCEPTED/REJECTED confirmation)</a:t>
            </a:r>
            <a:br/>
            <a:r>
              <a:t>• SessionManager: Background timer rotating challenge every 30s</a:t>
            </a:r>
            <a:br/>
            <a:r>
              <a:t>• Mutex Concurrency: Handles 50+ students without race conditions</a:t>
            </a:r>
            <a:br/>
            <a:r>
              <a:t>• Room SQLite DB: Persists sessions, records, and audit 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00897B"/>
                </a:solidFill>
              </a:defRPr>
            </a:pPr>
            <a:r>
              <a:t>STUDENT PHONES (Scanner &amp; Client)</a:t>
            </a:r>
          </a:p>
          <a:p>
            <a:pPr>
              <a:spcBef>
                <a:spcPts val="1200"/>
              </a:spcBef>
              <a:defRPr sz="1300">
                <a:solidFill>
                  <a:srgbClr val="192337"/>
                </a:solidFill>
              </a:defRPr>
            </a:pPr>
            <a:r>
              <a:t>• BleScanner: Filters for classroom Service UUID</a:t>
            </a:r>
            <a:br/>
            <a:r>
              <a:t>• Multi-Sample RSSI Buffer: Collects 5–20 signal samples</a:t>
            </a:r>
            <a:br/>
            <a:r>
              <a:t>• Proximity Analyzer: Computes median signal strength (-dBm)</a:t>
            </a:r>
            <a:br/>
            <a:r>
              <a:t>• GattClient: Connects directly to teacher without pairing</a:t>
            </a:r>
            <a:br/>
            <a:r>
              <a:t>• Challenge-Response Crypto: Calculates HMAC-SHA256 signature</a:t>
            </a:r>
            <a:br/>
            <a:r>
              <a:t>• Auto-Login Persistence: Auto-restores enrollment profile</a:t>
            </a:r>
            <a:br/>
            <a:r>
              <a:t>• Room SQLite DB: Retains personal attendance history offline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SECURITY INNOVATION</a:t>
            </a:r>
          </a:p>
          <a:p>
            <a:pPr>
              <a:defRPr sz="2400" b="1">
                <a:solidFill>
                  <a:srgbClr val="1B2A4A"/>
                </a:solidFill>
              </a:defRPr>
            </a:pPr>
            <a:r>
              <a:t>The 5-Pillar Anti-Proxy Security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1. Hardware Exclusivity</a:t>
            </a:r>
          </a:p>
          <a:p>
            <a:pPr>
              <a:spcBef>
                <a:spcPts val="400"/>
              </a:spcBef>
              <a:defRPr sz="1100" b="1">
                <a:solidFill>
                  <a:srgbClr val="2E7D32"/>
                </a:solidFill>
              </a:defRPr>
            </a:pPr>
            <a:r>
              <a:t>Blocks Buddy Punching</a:t>
            </a:r>
          </a:p>
          <a:p>
            <a:pPr>
              <a:spcBef>
                <a:spcPts val="1000"/>
              </a:spcBef>
              <a:defRPr sz="1200">
                <a:solidFill>
                  <a:srgbClr val="646E7D"/>
                </a:solidFill>
              </a:defRPr>
            </a:pPr>
            <a:r>
              <a:t>Bound to Settings.Secure.ANDROID_ID. One physical phone can only punch for ONE student per session. Switching student IDs on the same phone is instantly rejected.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7791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2. Enrolled Device Lock</a:t>
            </a:r>
          </a:p>
          <a:p>
            <a:pPr>
              <a:spcBef>
                <a:spcPts val="400"/>
              </a:spcBef>
              <a:defRPr sz="1100" b="1">
                <a:solidFill>
                  <a:srgbClr val="2E7D32"/>
                </a:solidFill>
              </a:defRPr>
            </a:pPr>
            <a:r>
              <a:t>Blocks Stolen ID Abuse</a:t>
            </a:r>
          </a:p>
          <a:p>
            <a:pPr>
              <a:spcBef>
                <a:spcPts val="1000"/>
              </a:spcBef>
              <a:defRPr sz="1200">
                <a:solidFill>
                  <a:srgbClr val="646E7D"/>
                </a:solidFill>
              </a:defRPr>
            </a:pPr>
            <a:r>
              <a:t>A student ID is cryptographically locked to the student's personal phone. A friend cannot borrow a roll number and punch from their own device.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3. Multi-Sample RSSI</a:t>
            </a:r>
          </a:p>
          <a:p>
            <a:pPr>
              <a:spcBef>
                <a:spcPts val="400"/>
              </a:spcBef>
              <a:defRPr sz="1100" b="1">
                <a:solidFill>
                  <a:srgbClr val="2E7D32"/>
                </a:solidFill>
              </a:defRPr>
            </a:pPr>
            <a:r>
              <a:t>Blocks Outside Punching</a:t>
            </a:r>
          </a:p>
          <a:p>
            <a:pPr>
              <a:spcBef>
                <a:spcPts val="1000"/>
              </a:spcBef>
              <a:defRPr sz="1200">
                <a:solidFill>
                  <a:srgbClr val="646E7D"/>
                </a:solidFill>
              </a:defRPr>
            </a:pPr>
            <a:r>
              <a:t>Single Bluetooth signals fluctuate wildly. Taking the mathematical median of 5+ samples filters noise and blocks students outside the classroom walls.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4. 30s Rotating Challenge</a:t>
            </a:r>
          </a:p>
          <a:p>
            <a:pPr>
              <a:spcBef>
                <a:spcPts val="400"/>
              </a:spcBef>
              <a:defRPr sz="1100" b="1">
                <a:solidFill>
                  <a:srgbClr val="2E7D32"/>
                </a:solidFill>
              </a:defRPr>
            </a:pPr>
            <a:r>
              <a:t>Blocks Replay Attacks</a:t>
            </a:r>
          </a:p>
          <a:p>
            <a:pPr>
              <a:spcBef>
                <a:spcPts val="1000"/>
              </a:spcBef>
              <a:defRPr sz="1200">
                <a:solidFill>
                  <a:srgbClr val="646E7D"/>
                </a:solidFill>
              </a:defRPr>
            </a:pPr>
            <a:r>
              <a:t>Teacher generates a new 32-byte SecureRandom token every 30 seconds. Sniffed BLE packets expire and become worthless within 30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6608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5. HMAC-SHA256 Auth</a:t>
            </a:r>
          </a:p>
          <a:p>
            <a:pPr>
              <a:spcBef>
                <a:spcPts val="400"/>
              </a:spcBef>
              <a:defRPr sz="1100" b="1">
                <a:solidFill>
                  <a:srgbClr val="2E7D32"/>
                </a:solidFill>
              </a:defRPr>
            </a:pPr>
            <a:r>
              <a:t>Zero Secret Exposure</a:t>
            </a:r>
          </a:p>
          <a:p>
            <a:pPr>
              <a:spcBef>
                <a:spcPts val="1000"/>
              </a:spcBef>
              <a:defRPr sz="1200">
                <a:solidFill>
                  <a:srgbClr val="646E7D"/>
                </a:solidFill>
              </a:defRPr>
            </a:pPr>
            <a:r>
              <a:t>The student's 256-bit secret key is never sent over the air. The student sends a digital signature: HMAC(challenge + studentId + timestamp).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PRACTICAL WORKFLOW</a:t>
            </a:r>
          </a:p>
          <a:p>
            <a:pPr>
              <a:defRPr sz="2400" b="1">
                <a:solidFill>
                  <a:srgbClr val="1B2A4A"/>
                </a:solidFill>
              </a:defRPr>
            </a:pPr>
            <a:r>
              <a:t>Edge Case Solution: Lost &amp; Replaced Student Phones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Step 1: Student Gets New Phone</a:t>
            </a:r>
          </a:p>
          <a:p>
            <a:pPr>
              <a:spcBef>
                <a:spcPts val="200"/>
              </a:spcBef>
              <a:defRPr sz="1300">
                <a:solidFill>
                  <a:srgbClr val="646E7D"/>
                </a:solidFill>
              </a:defRPr>
            </a:pPr>
            <a:r>
              <a:t>Student installs BlueProof on their new phone, registers their existing Student ID and Name. A new hardware ID is generated locally.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8892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Step 2: Initial Check-In Blocked</a:t>
            </a:r>
          </a:p>
          <a:p>
            <a:pPr>
              <a:spcBef>
                <a:spcPts val="200"/>
              </a:spcBef>
              <a:defRPr sz="1300">
                <a:solidFill>
                  <a:srgbClr val="646E7D"/>
                </a:solidFill>
              </a:defRPr>
            </a:pPr>
            <a:r>
              <a:t>Upon check-in, teacher's phone detects hardware ID mismatch against the previous device. System protects account by initially rejecting.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Step 3: Teacher Taps 'Reset Lock'</a:t>
            </a:r>
          </a:p>
          <a:p>
            <a:pPr>
              <a:spcBef>
                <a:spcPts val="200"/>
              </a:spcBef>
              <a:defRPr sz="1300">
                <a:solidFill>
                  <a:srgbClr val="646E7D"/>
                </a:solidFill>
              </a:defRPr>
            </a:pPr>
            <a:r>
              <a:t>Teacher opens Teacher Dashboard -&gt; Taps 'Enrolled (X)' card -&gt; Finds student -&gt; Taps 'Reset Lock'. The old hardware lock is cleared in 2 taps.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Step 4: Seamless Re-Binding</a:t>
            </a:r>
          </a:p>
          <a:p>
            <a:pPr>
              <a:spcBef>
                <a:spcPts val="200"/>
              </a:spcBef>
              <a:defRPr sz="1300">
                <a:solidFill>
                  <a:srgbClr val="646E7D"/>
                </a:solidFill>
              </a:defRPr>
            </a:pPr>
            <a:r>
              <a:t>Student retries check-in. SessionManager recognizes the cleared lock, binds the new phone's hardware ID, and marks student ACCEPTED!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DEVELOPMENT STACK</a:t>
            </a:r>
          </a:p>
          <a:p>
            <a:pPr>
              <a:defRPr sz="2400" b="1">
                <a:solidFill>
                  <a:srgbClr val="1B2A4A"/>
                </a:solidFill>
              </a:defRPr>
            </a:pPr>
            <a:r>
              <a:t>Comprehensive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UI &amp; Rendering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Kotlin 1.9.22 (100% Native)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Jetpack Compose BOM 2024.02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Material Design 3 Components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Material Icons Extended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7791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Architecture &amp; State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MVVM Architecture Pattern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Kotlin Coroutines 1.7.3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StateFlow Reactive Streams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Lifecycle Runtime Compose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Database &amp; Persistence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Room Database 2.6.1 (SQLite)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Kotlin Symbol Processing (KSP)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Composite Unique Indices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SharedPrefs for Profiles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Hardware &amp; Security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Android BLE APIs (Adv/Scan)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GATT Server &amp; Client Handshake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HMAC-SHA256 Cryptography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SecureRandom 32-Byte Entropy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6608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Reporting &amp; Optional Cloud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Custom Compose Canvas Charts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RFC 4180 CSV Export Engine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FastAPI + Uvicorn Cloud Server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SQLAlchemy + Pydantic v2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NETWORK PROTOCOL</a:t>
            </a:r>
          </a:p>
          <a:p>
            <a:pPr>
              <a:defRPr sz="2400" b="1">
                <a:solidFill>
                  <a:srgbClr val="1B2A4A"/>
                </a:solidFill>
              </a:defRPr>
            </a:pPr>
            <a:r>
              <a:t>Cryptographic Handshake Sequence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1. Broadcast Beacon</a:t>
            </a:r>
          </a:p>
          <a:p>
            <a:pPr>
              <a:spcBef>
                <a:spcPts val="200"/>
              </a:spcBef>
              <a:defRPr sz="1100">
                <a:solidFill>
                  <a:srgbClr val="646E7D"/>
                </a:solidFill>
              </a:defRPr>
            </a:pPr>
            <a:r>
              <a:t>Teacher phone broadcasts BLE packet containing Service UUID and hashed Session 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6459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2. Proximity Scan</a:t>
            </a:r>
          </a:p>
          <a:p>
            <a:pPr>
              <a:spcBef>
                <a:spcPts val="200"/>
              </a:spcBef>
              <a:defRPr sz="1100">
                <a:solidFill>
                  <a:srgbClr val="646E7D"/>
                </a:solidFill>
              </a:defRPr>
            </a:pPr>
            <a:r>
              <a:t>Student BleScanner discovers beacon, buffers 5+ RSSI samples, and verifies median &gt;= -75 dBm.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3. Transient GATT Link</a:t>
            </a:r>
          </a:p>
          <a:p>
            <a:pPr>
              <a:spcBef>
                <a:spcPts val="200"/>
              </a:spcBef>
              <a:defRPr sz="1100">
                <a:solidFill>
                  <a:srgbClr val="646E7D"/>
                </a:solidFill>
              </a:defRPr>
            </a:pPr>
            <a:r>
              <a:t>Student phone initiates direct radio connection to Teacher GATT Server (zero pairing needed).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7889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4. Read Session Info</a:t>
            </a:r>
          </a:p>
          <a:p>
            <a:pPr>
              <a:spcBef>
                <a:spcPts val="200"/>
              </a:spcBef>
              <a:defRPr sz="1100">
                <a:solidFill>
                  <a:srgbClr val="646E7D"/>
                </a:solidFill>
              </a:defRPr>
            </a:pPr>
            <a:r>
              <a:t>Student reads SESSION_INFO characteristic: receives session ID, rotating challenge, teacher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5. HMAC Signature</a:t>
            </a:r>
          </a:p>
          <a:p>
            <a:pPr>
              <a:spcBef>
                <a:spcPts val="200"/>
              </a:spcBef>
              <a:defRPr sz="1100">
                <a:solidFill>
                  <a:srgbClr val="646E7D"/>
                </a:solidFill>
              </a:defRPr>
            </a:pPr>
            <a:r>
              <a:t>Student computes HMAC-SHA256(challenge + studentId + timestamp, secretKey) on-device.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6. Submit Check-in</a:t>
            </a:r>
          </a:p>
          <a:p>
            <a:pPr>
              <a:spcBef>
                <a:spcPts val="200"/>
              </a:spcBef>
              <a:defRPr sz="1100">
                <a:solidFill>
                  <a:srgbClr val="646E7D"/>
                </a:solidFill>
              </a:defRPr>
            </a:pPr>
            <a:r>
              <a:t>Student writes JSON payload to CHECKIN characteristic with signature, deviceId, and RSSI samples.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7. 5-Tier Verification</a:t>
            </a:r>
          </a:p>
          <a:p>
            <a:pPr>
              <a:spcBef>
                <a:spcPts val="200"/>
              </a:spcBef>
              <a:defRPr sz="1100">
                <a:solidFill>
                  <a:srgbClr val="646E7D"/>
                </a:solidFill>
              </a:defRPr>
            </a:pPr>
            <a:r>
              <a:t>Teacher SessionManager verifies duplicate, phone reuse, device lock, 30s expiry, and signature.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0749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8. Instant Notification</a:t>
            </a:r>
          </a:p>
          <a:p>
            <a:pPr>
              <a:spcBef>
                <a:spcPts val="200"/>
              </a:spcBef>
              <a:defRPr sz="1100">
                <a:solidFill>
                  <a:srgbClr val="646E7D"/>
                </a:solidFill>
              </a:defRPr>
            </a:pPr>
            <a:r>
              <a:t>Teacher writes record to SQLite, updates live UI feed, and notifies student screen: ACCEPTED!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LOCAL PERSISTENCE</a:t>
            </a:r>
          </a:p>
          <a:p>
            <a:pPr>
              <a:defRPr sz="2400" b="1">
                <a:solidFill>
                  <a:srgbClr val="1B2A4A"/>
                </a:solidFill>
              </a:defRPr>
            </a:pPr>
            <a:r>
              <a:t>Database Schema &amp; Entity Relationship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700" b="1">
                <a:solidFill>
                  <a:srgbClr val="1B2A4A"/>
                </a:solidFill>
              </a:defRPr>
            </a:pPr>
            <a:r>
              <a:t>students</a:t>
            </a:r>
          </a:p>
          <a:p>
            <a:pPr>
              <a:spcBef>
                <a:spcPts val="300"/>
              </a:spcBef>
              <a:defRPr sz="1100" b="1">
                <a:solidFill>
                  <a:srgbClr val="00897B"/>
                </a:solidFill>
              </a:defRPr>
            </a:pPr>
            <a:r>
              <a:t>Enrolled Students Table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id: Long (PK Autoincrement)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studentId: String (UNIQUE Index)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name: String (Full Student Name)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deviceId: String (Hardware Lock)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enrollmentKey: String (256-bit Secret)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enrolledAt: Long (Timestamp)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isActive: Boolean (Account Status)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700" b="1">
                <a:solidFill>
                  <a:srgbClr val="1B2A4A"/>
                </a:solidFill>
              </a:defRPr>
            </a:pPr>
            <a:r>
              <a:t>sessions</a:t>
            </a:r>
          </a:p>
          <a:p>
            <a:pPr>
              <a:spcBef>
                <a:spcPts val="300"/>
              </a:spcBef>
              <a:defRPr sz="1100" b="1">
                <a:solidFill>
                  <a:srgbClr val="00897B"/>
                </a:solidFill>
              </a:defRPr>
            </a:pPr>
            <a:r>
              <a:t>Class Sessions Table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id: Long (PK Autoincrement)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sessionId: String (UUID Unique)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name: String (e.g. CS101 Lecture 5)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teacherName: String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teacherId: String (e.g. TCH-1004)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startTime / endTime: Long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rssiThreshold: Int (-75 dBm)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status: ACTIVE | PAUSED | ENDED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700" b="1">
                <a:solidFill>
                  <a:srgbClr val="1B2A4A"/>
                </a:solidFill>
              </a:defRPr>
            </a:pPr>
            <a:r>
              <a:t>attendance_records</a:t>
            </a:r>
          </a:p>
          <a:p>
            <a:pPr>
              <a:spcBef>
                <a:spcPts val="300"/>
              </a:spcBef>
              <a:defRPr sz="1100" b="1">
                <a:solidFill>
                  <a:srgbClr val="00897B"/>
                </a:solidFill>
              </a:defRPr>
            </a:pPr>
            <a:r>
              <a:t>Attendance Entries Table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id: Long (PK Autoincrement)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studentId / sessionId: String (Indices)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studentName: String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checkInTime: Long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rssiMedian: Int &amp; rssiSamples: JSON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deviceId: String (Phone Exclusivity)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status: ACCEPTED | REJECTED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UNIQUE: (studentId, sessionId)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700" b="1">
                <a:solidFill>
                  <a:srgbClr val="1B2A4A"/>
                </a:solidFill>
              </a:defRPr>
            </a:pPr>
            <a:r>
              <a:t>audit_log</a:t>
            </a:r>
          </a:p>
          <a:p>
            <a:pPr>
              <a:spcBef>
                <a:spcPts val="300"/>
              </a:spcBef>
              <a:defRPr sz="1100" b="1">
                <a:solidFill>
                  <a:srgbClr val="00897B"/>
                </a:solidFill>
              </a:defRPr>
            </a:pPr>
            <a:r>
              <a:t>Tamper-Evident Security Log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id: Long (PK Autoincrement)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timestamp: Long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eventType: String (CHECKIN_ACCEPTED, etc)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sessionId: String? &amp; studentId: String?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details: String (JSON security metadata)</a:t>
            </a:r>
          </a:p>
          <a:p>
            <a:pPr>
              <a:spcBef>
                <a:spcPts val="600"/>
              </a:spcBef>
              <a:defRPr sz="1100">
                <a:solidFill>
                  <a:srgbClr val="192337"/>
                </a:solidFill>
              </a:defRPr>
            </a:pPr>
            <a:r>
              <a:t>• proxyAlert: Boolean flag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USER EXPERIENCE</a:t>
            </a:r>
          </a:p>
          <a:p>
            <a:pPr>
              <a:defRPr sz="2400" b="1">
                <a:solidFill>
                  <a:srgbClr val="1B2A4A"/>
                </a:solidFill>
              </a:defRPr>
            </a:pPr>
            <a:r>
              <a:t>Complete UI/UX Suite: 11 Production-Ready Screens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1B2A4A"/>
                </a:solidFill>
              </a:defRPr>
            </a:pPr>
            <a:r>
              <a:t>WelcomeScreen (Both)</a:t>
            </a:r>
          </a:p>
          <a:p>
            <a:pPr>
              <a:spcBef>
                <a:spcPts val="100"/>
              </a:spcBef>
              <a:defRPr sz="1050">
                <a:solidFill>
                  <a:srgbClr val="646E7D"/>
                </a:solidFill>
              </a:defRPr>
            </a:pPr>
            <a:r>
              <a:t>Role selection: 'I'm a Teacher' vs 'I'm a Student' with branding.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23160"/>
            <a:ext cx="5257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1B2A4A"/>
                </a:solidFill>
              </a:defRPr>
            </a:pPr>
            <a:r>
              <a:t>StudentRegistrationScreen (Student)</a:t>
            </a:r>
          </a:p>
          <a:p>
            <a:pPr>
              <a:spcBef>
                <a:spcPts val="100"/>
              </a:spcBef>
              <a:defRPr sz="1050">
                <a:solidFill>
                  <a:srgbClr val="646E7D"/>
                </a:solidFill>
              </a:defRPr>
            </a:pPr>
            <a:r>
              <a:t>Roll number &amp; Name registration with automatic local login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257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1B2A4A"/>
                </a:solidFill>
              </a:defRPr>
            </a:pPr>
            <a:r>
              <a:t>TeacherDashboardScreen (Teacher)</a:t>
            </a:r>
          </a:p>
          <a:p>
            <a:pPr>
              <a:spcBef>
                <a:spcPts val="100"/>
              </a:spcBef>
              <a:defRPr sz="1050">
                <a:solidFill>
                  <a:srgbClr val="646E7D"/>
                </a:solidFill>
              </a:defRPr>
            </a:pPr>
            <a:r>
              <a:t>Faculty Profile Card, Enrolled Students Manager, Quick Start button.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5257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1B2A4A"/>
                </a:solidFill>
              </a:defRPr>
            </a:pPr>
            <a:r>
              <a:t>StartSessionScreen (Teacher)</a:t>
            </a:r>
          </a:p>
          <a:p>
            <a:pPr>
              <a:spcBef>
                <a:spcPts val="100"/>
              </a:spcBef>
              <a:defRPr sz="1050">
                <a:solidFill>
                  <a:srgbClr val="646E7D"/>
                </a:solidFill>
              </a:defRPr>
            </a:pPr>
            <a:r>
              <a:t>Duration selector, RSSI proximity slider, pre-filled editable Faculty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257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1B2A4A"/>
                </a:solidFill>
              </a:defRPr>
            </a:pPr>
            <a:r>
              <a:t>BleScanScreen (Student)</a:t>
            </a:r>
          </a:p>
          <a:p>
            <a:pPr>
              <a:spcBef>
                <a:spcPts val="100"/>
              </a:spcBef>
              <a:defRPr sz="1050">
                <a:solidFill>
                  <a:srgbClr val="646E7D"/>
                </a:solidFill>
              </a:defRPr>
            </a:pPr>
            <a:r>
              <a:t>Radar animation, live signal strength bars, verified instructor check-in.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5257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1B2A4A"/>
                </a:solidFill>
              </a:defRPr>
            </a:pPr>
            <a:r>
              <a:t>LiveSessionScreen (Teacher)</a:t>
            </a:r>
          </a:p>
          <a:p>
            <a:pPr>
              <a:spcBef>
                <a:spcPts val="100"/>
              </a:spcBef>
              <a:defRPr sz="1050">
                <a:solidFill>
                  <a:srgbClr val="646E7D"/>
                </a:solidFill>
              </a:defRPr>
            </a:pPr>
            <a:r>
              <a:t>Live student feed, connected device counter, countdown timer, pause/resume.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1B2A4A"/>
                </a:solidFill>
              </a:defRPr>
            </a:pPr>
            <a:r>
              <a:t>StudentDashboardScreen (Student)</a:t>
            </a:r>
          </a:p>
          <a:p>
            <a:pPr>
              <a:spcBef>
                <a:spcPts val="100"/>
              </a:spcBef>
              <a:defRPr sz="1050">
                <a:solidFill>
                  <a:srgbClr val="646E7D"/>
                </a:solidFill>
              </a:defRPr>
            </a:pPr>
            <a:r>
              <a:t>Personal greeting, today's attendance badge, history launcher.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423160"/>
            <a:ext cx="5257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1B2A4A"/>
                </a:solidFill>
              </a:defRPr>
            </a:pPr>
            <a:r>
              <a:t>AttendanceHistoryScreen (Both)</a:t>
            </a:r>
          </a:p>
          <a:p>
            <a:pPr>
              <a:spcBef>
                <a:spcPts val="100"/>
              </a:spcBef>
              <a:defRPr sz="1050">
                <a:solidFill>
                  <a:srgbClr val="646E7D"/>
                </a:solidFill>
              </a:defRPr>
            </a:pPr>
            <a:r>
              <a:t>Chronological session archives and historical check-in logs.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00400"/>
            <a:ext cx="5257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1B2A4A"/>
                </a:solidFill>
              </a:defRPr>
            </a:pPr>
            <a:r>
              <a:t>AnalyticsScreen (Both)</a:t>
            </a:r>
          </a:p>
          <a:p>
            <a:pPr>
              <a:spcBef>
                <a:spcPts val="100"/>
              </a:spcBef>
              <a:defRPr sz="1050">
                <a:solidFill>
                  <a:srgbClr val="646E7D"/>
                </a:solidFill>
              </a:defRPr>
            </a:pPr>
            <a:r>
              <a:t>Canvas bar charts, donut charts, and overall attendance rate trends.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5257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1B2A4A"/>
                </a:solidFill>
              </a:defRPr>
            </a:pPr>
            <a:r>
              <a:t>SessionDetailsScreen (Teacher)</a:t>
            </a:r>
          </a:p>
          <a:p>
            <a:pPr>
              <a:spcBef>
                <a:spcPts val="100"/>
              </a:spcBef>
              <a:defRPr sz="1050">
                <a:solidFill>
                  <a:srgbClr val="646E7D"/>
                </a:solidFill>
              </a:defRPr>
            </a:pPr>
            <a:r>
              <a:t>Granular audit trail with one-tap CSV spreadsheet export.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754880"/>
            <a:ext cx="5257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1B2A4A"/>
                </a:solidFill>
              </a:defRPr>
            </a:pPr>
            <a:r>
              <a:t>SettingsScreen (Both)</a:t>
            </a:r>
          </a:p>
          <a:p>
            <a:pPr>
              <a:spcBef>
                <a:spcPts val="100"/>
              </a:spcBef>
              <a:defRPr sz="1050">
                <a:solidFill>
                  <a:srgbClr val="646E7D"/>
                </a:solidFill>
              </a:defRPr>
            </a:pPr>
            <a:r>
              <a:t>Hardware BLE diagnostics, device ID display, and database wipe.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REPORTING ENGINE</a:t>
            </a:r>
          </a:p>
          <a:p>
            <a:pPr>
              <a:defRPr sz="2400" b="1">
                <a:solidFill>
                  <a:srgbClr val="1B2A4A"/>
                </a:solidFill>
              </a:defRPr>
            </a:pPr>
            <a:r>
              <a:t>Built-in Analytics &amp; RFC 4180 CSV Report Export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1B2A4A"/>
                </a:solidFill>
              </a:defRPr>
            </a:pPr>
            <a:r>
              <a:t>Zero-Dependency Canvas Charts</a:t>
            </a:r>
          </a:p>
          <a:p>
            <a:pPr>
              <a:spcBef>
                <a:spcPts val="400"/>
              </a:spcBef>
              <a:defRPr sz="1200" b="1">
                <a:solidFill>
                  <a:srgbClr val="00897B"/>
                </a:solidFill>
              </a:defRPr>
            </a:pPr>
            <a:r>
              <a:t>High Performance &amp; Lightweight</a:t>
            </a:r>
          </a:p>
          <a:p>
            <a:pPr>
              <a:spcBef>
                <a:spcPts val="1400"/>
              </a:spcBef>
              <a:defRPr sz="1300">
                <a:solidFill>
                  <a:srgbClr val="192337"/>
                </a:solidFill>
              </a:defRPr>
            </a:pPr>
            <a:r>
              <a:t>• Custom BarChart: Renders Present vs. Absent counts side-by-side.</a:t>
            </a:r>
            <a:br/>
            <a:r>
              <a:t>• Custom DonutChart: Visualizes Accepted, Rejected, and Pending distributions.</a:t>
            </a:r>
            <a:br/>
            <a:r>
              <a:t>• Custom LineChart: Plots attendance trends across recent sessions.</a:t>
            </a:r>
            <a:br/>
            <a:r>
              <a:t>• Built directly on Jetpack Compose Canvas, avoiding heavy third-party chart libraries and keeping binary size under 17 MB.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645920"/>
            <a:ext cx="5257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1B2A4A"/>
                </a:solidFill>
              </a:defRPr>
            </a:pPr>
            <a:r>
              <a:t>Instant RFC 4180 CSV Export</a:t>
            </a:r>
          </a:p>
          <a:p>
            <a:pPr>
              <a:spcBef>
                <a:spcPts val="400"/>
              </a:spcBef>
              <a:defRPr sz="1200" b="1">
                <a:solidFill>
                  <a:srgbClr val="00897B"/>
                </a:solidFill>
              </a:defRPr>
            </a:pPr>
            <a:r>
              <a:t>Direct Spreadsheet Download</a:t>
            </a:r>
          </a:p>
          <a:p>
            <a:pPr>
              <a:spcBef>
                <a:spcPts val="1400"/>
              </a:spcBef>
              <a:defRPr sz="1300">
                <a:solidFill>
                  <a:srgbClr val="192337"/>
                </a:solidFill>
              </a:defRPr>
            </a:pPr>
            <a:r>
              <a:t>• One-tap export directly on the teacher's phone.</a:t>
            </a:r>
            <a:br/>
            <a:r>
              <a:t>• Generates standardized .csv files stored in Android Downloads/Documents folder.</a:t>
            </a:r>
            <a:br/>
            <a:r>
              <a:t>• Exported Columns: Student ID, Student Name, Check-in Time, Median RSSI, Validation Status, Rejection Reason, Device ID.</a:t>
            </a:r>
            <a:br/>
            <a:r>
              <a:t>• Ready to open in Microsoft Excel, Google Sheets, or import into University ERP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QUALITY ASSURANCE</a:t>
            </a:r>
          </a:p>
          <a:p>
            <a:pPr>
              <a:defRPr sz="2400" b="1">
                <a:solidFill>
                  <a:srgbClr val="1B2A4A"/>
                </a:solidFill>
              </a:defRPr>
            </a:pPr>
            <a:r>
              <a:t>Automated Verification: 55 Tests Passing (100% Success)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500" b="1">
                <a:solidFill>
                  <a:srgbClr val="2E7D32"/>
                </a:solidFill>
              </a:defRPr>
            </a:pPr>
            <a:r>
              <a:t>AntiProxyEndToEndTest — 11 Tests (PASSED)</a:t>
            </a:r>
          </a:p>
          <a:p>
            <a:pPr>
              <a:spcBef>
                <a:spcPts val="400"/>
              </a:spcBef>
              <a:defRPr sz="1200">
                <a:solidFill>
                  <a:srgbClr val="646E7D"/>
                </a:solidFill>
              </a:defRPr>
            </a:pPr>
            <a:r>
              <a:t>Buddy-punching, same-phone ID switching, stolen ID, device lock reset, session lifecycle.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645920"/>
            <a:ext cx="52578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500" b="1">
                <a:solidFill>
                  <a:srgbClr val="2E7D32"/>
                </a:solidFill>
              </a:defRPr>
            </a:pPr>
            <a:r>
              <a:t>SessionValidatorTest — 11 Tests (PASSED)</a:t>
            </a:r>
          </a:p>
          <a:p>
            <a:pPr>
              <a:spcBef>
                <a:spcPts val="400"/>
              </a:spcBef>
              <a:defRPr sz="1200">
                <a:solidFill>
                  <a:srgbClr val="646E7D"/>
                </a:solidFill>
              </a:defRPr>
            </a:pPr>
            <a:r>
              <a:t>Expired challenge, stale tokens, weak RSSI rejection, insufficient sample counts, HMAC forgery.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52578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500" b="1">
                <a:solidFill>
                  <a:srgbClr val="2E7D32"/>
                </a:solidFill>
              </a:defRPr>
            </a:pPr>
            <a:r>
              <a:t>ChallengeGeneratorTest — 10 Tests (PASSED)</a:t>
            </a:r>
          </a:p>
          <a:p>
            <a:pPr>
              <a:spcBef>
                <a:spcPts val="400"/>
              </a:spcBef>
              <a:defRPr sz="1200">
                <a:solidFill>
                  <a:srgbClr val="646E7D"/>
                </a:solidFill>
              </a:defRPr>
            </a:pPr>
            <a:r>
              <a:t>32-byte cryptographic uniqueness, HMAC-SHA256 consistency, token expiration calculations.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154680"/>
            <a:ext cx="52578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500" b="1">
                <a:solidFill>
                  <a:srgbClr val="2E7D32"/>
                </a:solidFill>
              </a:defRPr>
            </a:pPr>
            <a:r>
              <a:t>RssiAnalyzerTest — 7 Tests (PASSED)</a:t>
            </a:r>
          </a:p>
          <a:p>
            <a:pPr>
              <a:spcBef>
                <a:spcPts val="400"/>
              </a:spcBef>
              <a:defRPr sz="1200">
                <a:solidFill>
                  <a:srgbClr val="646E7D"/>
                </a:solidFill>
              </a:defRPr>
            </a:pPr>
            <a:r>
              <a:t>Median calculation on odd/even samples, boundary threshold detection, signal categorization.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52578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500" b="1">
                <a:solidFill>
                  <a:srgbClr val="2E7D32"/>
                </a:solidFill>
              </a:defRPr>
            </a:pPr>
            <a:r>
              <a:t>AttendanceCalculatorTest — 6 Tests (PASSED)</a:t>
            </a:r>
          </a:p>
          <a:p>
            <a:pPr>
              <a:spcBef>
                <a:spcPts val="400"/>
              </a:spcBef>
              <a:defRPr sz="1200">
                <a:solidFill>
                  <a:srgbClr val="646E7D"/>
                </a:solidFill>
              </a:defRPr>
            </a:pPr>
            <a:r>
              <a:t>Percentage calculations, duration formatters, zero-student edge cases, rate evaluations.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663440"/>
            <a:ext cx="52578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500" b="1">
                <a:solidFill>
                  <a:srgbClr val="2E7D32"/>
                </a:solidFill>
              </a:defRPr>
            </a:pPr>
            <a:r>
              <a:t>FastAPI Backend Test Suite — 10 Tests (PASSED)</a:t>
            </a:r>
          </a:p>
          <a:p>
            <a:pPr>
              <a:spcBef>
                <a:spcPts val="400"/>
              </a:spcBef>
              <a:defRPr sz="1200">
                <a:solidFill>
                  <a:srgbClr val="646E7D"/>
                </a:solidFill>
              </a:defRPr>
            </a:pPr>
            <a:r>
              <a:t>Full REST API integration, cloud anti-proxy validation, duplicate rejection, CSV streaming.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BENCHMARK COMPARISON</a:t>
            </a:r>
          </a:p>
          <a:p>
            <a:pPr>
              <a:defRPr sz="2400" b="1">
                <a:solidFill>
                  <a:srgbClr val="1B2A4A"/>
                </a:solidFill>
              </a:defRPr>
            </a:pPr>
            <a:r>
              <a:t>Competitive Feature &amp; Security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QR Code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Biometric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GPS App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BlueProof (Ours)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Infrastructure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$500 - $2,000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E7D32"/>
                          </a:solidFill>
                        </a:defRPr>
                      </a:pPr>
                      <a:r>
                        <a:t>$0 (No Extra HW)</a:t>
                      </a:r>
                    </a:p>
                  </a:txBody>
                  <a:tcPr>
                    <a:solidFill>
                      <a:srgbClr val="EBF8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Offline Resilience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E7D32"/>
                          </a:solidFill>
                        </a:defRPr>
                      </a:pPr>
                      <a:r>
                        <a:t>100% Offline (BLE)</a:t>
                      </a:r>
                    </a:p>
                  </a:txBody>
                  <a:tcPr>
                    <a:solidFill>
                      <a:srgbClr val="EBF8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Check-in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10-15 mins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2-3 mins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10-15 mins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2-5 mins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E7D32"/>
                          </a:solidFill>
                        </a:defRPr>
                      </a:pPr>
                      <a:r>
                        <a:t>&lt; 2 Seconds</a:t>
                      </a:r>
                    </a:p>
                  </a:txBody>
                  <a:tcPr>
                    <a:solidFill>
                      <a:srgbClr val="EBF8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Photo-Share Proxy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VULNERABLE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Protected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Protected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E7D32"/>
                          </a:solidFill>
                        </a:defRPr>
                      </a:pPr>
                      <a:r>
                        <a:t>IMMUNE (Radio Link)</a:t>
                      </a:r>
                    </a:p>
                  </a:txBody>
                  <a:tcPr>
                    <a:solidFill>
                      <a:srgbClr val="EBF8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Buddy-Punching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FAILS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FAILS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Protected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FAILS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E7D32"/>
                          </a:solidFill>
                        </a:defRPr>
                      </a:pPr>
                      <a:r>
                        <a:t>PROTECTED (Hardware ID)</a:t>
                      </a:r>
                    </a:p>
                  </a:txBody>
                  <a:tcPr>
                    <a:solidFill>
                      <a:srgbClr val="EBF8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Outside Room Punch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FAILS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FAILS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Protected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92337"/>
                          </a:solidFill>
                        </a:defRPr>
                      </a:pPr>
                      <a:r>
                        <a:t>FAILS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E7D32"/>
                          </a:solidFill>
                        </a:defRPr>
                      </a:pPr>
                      <a:r>
                        <a:t>PROTECTED (RSSI Filter)</a:t>
                      </a:r>
                    </a:p>
                  </a:txBody>
                  <a:tcPr>
                    <a:solidFill>
                      <a:srgbClr val="EB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FUTURE SCOPE</a:t>
            </a:r>
          </a:p>
          <a:p>
            <a:pPr>
              <a:defRPr sz="2400" b="1">
                <a:solidFill>
                  <a:srgbClr val="1B2A4A"/>
                </a:solidFill>
              </a:defRPr>
            </a:pPr>
            <a:r>
              <a:t>Strategic Roadmap: From Classroom to Campus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700" b="1">
                <a:solidFill>
                  <a:srgbClr val="1B2A4A"/>
                </a:solidFill>
              </a:defRPr>
            </a:pPr>
            <a:r>
              <a:t>Phase 1: Production Core</a:t>
            </a:r>
          </a:p>
          <a:p>
            <a:pPr>
              <a:spcBef>
                <a:spcPts val="300"/>
              </a:spcBef>
              <a:defRPr sz="1150" b="1">
                <a:solidFill>
                  <a:srgbClr val="00897B"/>
                </a:solidFill>
              </a:defRPr>
            </a:pPr>
            <a:r>
              <a:t>Current Milestone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Complete BLE direct radio handshake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Hardware Device Exclusivity anti-proxy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Teacher-controlled Device Lock reset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Local Room SQLite persistence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One-tap CSV spreadsheet export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55 automated unit &amp; integration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70832" y="1645920"/>
            <a:ext cx="3429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700" b="1">
                <a:solidFill>
                  <a:srgbClr val="1B2A4A"/>
                </a:solidFill>
              </a:defRPr>
            </a:pPr>
            <a:r>
              <a:t>Phase 2: Mesh &amp; Scale</a:t>
            </a:r>
          </a:p>
          <a:p>
            <a:pPr>
              <a:spcBef>
                <a:spcPts val="300"/>
              </a:spcBef>
              <a:defRPr sz="1150" b="1">
                <a:solidFill>
                  <a:srgbClr val="00897B"/>
                </a:solidFill>
              </a:defRPr>
            </a:pPr>
            <a:r>
              <a:t>Next Quarter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BLE Mesh Relay protocol for 500+ seat auditoriums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Background attendance beacon mode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Automated multi-section course grouping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Low-power Bluetooth battery optimization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Encrypted classroom timetable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0144" y="1645920"/>
            <a:ext cx="3429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700" b="1">
                <a:solidFill>
                  <a:srgbClr val="1B2A4A"/>
                </a:solidFill>
              </a:defRPr>
            </a:pPr>
            <a:r>
              <a:t>Phase 3: Campus Enterprise</a:t>
            </a:r>
          </a:p>
          <a:p>
            <a:pPr>
              <a:spcBef>
                <a:spcPts val="300"/>
              </a:spcBef>
              <a:defRPr sz="1150" b="1">
                <a:solidFill>
                  <a:srgbClr val="00897B"/>
                </a:solidFill>
              </a:defRPr>
            </a:pPr>
            <a:r>
              <a:t>Future Scale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On-device Face/Biometric confirmation via Android BiometricPrompt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Official LMS connectors (Moodle, Blackboard, Canvas)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Automated attendance shortage warning emails</a:t>
            </a:r>
          </a:p>
          <a:p>
            <a:pPr>
              <a:spcBef>
                <a:spcPts val="800"/>
              </a:spcBef>
              <a:defRPr sz="1200">
                <a:solidFill>
                  <a:srgbClr val="192337"/>
                </a:solidFill>
              </a:defRPr>
            </a:pPr>
            <a:r>
              <a:t>• Dean &amp; Department Chair analytics portal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Bef>
                <a:spcPts val="600"/>
              </a:spcBef>
              <a:defRPr sz="2200">
                <a:solidFill>
                  <a:srgbClr val="4DB6AC"/>
                </a:solidFill>
              </a:defRPr>
            </a:pPr>
            <a:r>
              <a:t>BlueProof — Zero Hardware. Zero Internet. Zero Proxies.</a:t>
            </a:r>
          </a:p>
          <a:p>
            <a:pPr>
              <a:spcBef>
                <a:spcPts val="1600"/>
              </a:spcBef>
              <a:defRPr sz="1400">
                <a:solidFill>
                  <a:srgbClr val="BECDE6"/>
                </a:solidFill>
              </a:defRPr>
            </a:pPr>
            <a:r>
              <a:t>Summary of Deliverables:</a:t>
            </a:r>
            <a:br/>
            <a:r>
              <a:t>• 100% Native Kotlin Android application with 11 polished Material 3 screens</a:t>
            </a:r>
            <a:br/>
            <a:r>
              <a:t>• Production-grade BLE Advertiser, Scanner, and GATT Server engine</a:t>
            </a:r>
            <a:br/>
            <a:r>
              <a:t>• First-in-class Hardware Device Exclusivity anti-proxy architecture</a:t>
            </a:r>
            <a:br/>
            <a:r>
              <a:t>• 55/55 Passing Automated Unit and Integration Tests</a:t>
            </a:r>
            <a:br/>
            <a:r>
              <a:t>• Live GitHub repository with ready-to-install Android APK</a:t>
            </a:r>
          </a:p>
          <a:p>
            <a:pPr>
              <a:spcBef>
                <a:spcPts val="2000"/>
              </a:spcBef>
              <a:defRPr sz="1350" b="1">
                <a:solidFill>
                  <a:srgbClr val="FFFFFF"/>
                </a:solidFill>
              </a:defRPr>
            </a:pPr>
            <a:r>
              <a:t>GitHub: https://github.com/keshav2608kumar/BlueProof</a:t>
            </a:r>
            <a:br/>
            <a:r>
              <a:t>Direct APK: https://github.com/keshav2608kumar/BlueProof/raw/main/dist/BlueProof-debug.apk</a:t>
            </a:r>
            <a:br/>
            <a:br/>
            <a:r>
              <a:t>We are now ready for Questions &amp;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